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377440"/>
            <a:ext cx="10725912" cy="2011680"/>
          </a:xfrm>
          <a:prstGeom prst="rect">
            <a:avLst/>
          </a:prstGeom>
          <a:noFill/>
        </p:spPr>
        <p:txBody>
          <a:bodyPr wrap="square">
            <a:spAutoFit/>
          </a:bodyPr>
          <a:lstStyle/>
          <a:p>
            <a:pPr algn="ctr"/>
            <a:r>
              <a:rPr sz="4000" b="1">
                <a:solidFill>
                  <a:srgbClr val="2C5F2D"/>
                </a:solidFill>
              </a:rPr>
              <a:t>Welcome! Setup &amp; What We Will Learn</a:t>
            </a:r>
          </a:p>
          <a:p>
            <a:pPr algn="ctr"/>
            <a:r>
              <a:rPr sz="2000">
                <a:solidFill>
                  <a:srgbClr val="666666"/>
                </a:solidFill>
              </a:rPr>
              <a:t>Before Week 1 · First class · Introduction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Description</a:t>
            </a:r>
          </a:p>
        </p:txBody>
      </p:sp>
      <p:sp>
        <p:nvSpPr>
          <p:cNvPr id="3" name="TextBox 2"/>
          <p:cNvSpPr txBox="1"/>
          <p:nvPr/>
        </p:nvSpPr>
        <p:spPr>
          <a:xfrm>
            <a:off x="731520" y="1554480"/>
            <a:ext cx="10725912" cy="4754880"/>
          </a:xfrm>
          <a:prstGeom prst="rect">
            <a:avLst/>
          </a:prstGeom>
          <a:noFill/>
        </p:spPr>
        <p:txBody>
          <a:bodyPr wrap="square">
            <a:spAutoFit/>
          </a:bodyPr>
          <a:lstStyle/>
          <a:p>
            <a:r>
              <a:rPr sz="2200">
                <a:solidFill>
                  <a:srgbClr val="222222"/>
                </a:solidFill>
              </a:rPr>
              <a:t>Welcome to the course! In one month you will learn how websites are made using three languages: HTML (the structure), CSS (the style), and JavaScript (the behavior). Today we set up our computers with the tools we need, see what we will learn each week, and make sure everything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Key Concepts</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400">
                <a:solidFill>
                  <a:srgbClr val="222222"/>
                </a:solidFill>
              </a:rPr>
              <a:t>•  A computer (Windows or macOS) with internet</a:t>
            </a:r>
          </a:p>
          <a:p>
            <a:pPr>
              <a:spcAft>
                <a:spcPts val="1000"/>
              </a:spcAft>
            </a:pPr>
            <a:r>
              <a:rPr sz="2400">
                <a:solidFill>
                  <a:srgbClr val="222222"/>
                </a:solidFill>
              </a:rPr>
              <a:t>•  Google Chrome — the browser we test our pages in</a:t>
            </a:r>
          </a:p>
          <a:p>
            <a:pPr>
              <a:spcAft>
                <a:spcPts val="1000"/>
              </a:spcAft>
            </a:pPr>
            <a:r>
              <a:rPr sz="2400">
                <a:solidFill>
                  <a:srgbClr val="222222"/>
                </a:solidFill>
              </a:rPr>
              <a:t>•  VS Code — the free code editor we write our code in</a:t>
            </a:r>
          </a:p>
          <a:p>
            <a:pPr>
              <a:spcAft>
                <a:spcPts val="1000"/>
              </a:spcAft>
            </a:pPr>
            <a:r>
              <a:rPr sz="2400">
                <a:solidFill>
                  <a:srgbClr val="222222"/>
                </a:solidFill>
              </a:rPr>
              <a:t>•  Live Server — a VS Code extension that refreshes the page automatically</a:t>
            </a:r>
          </a:p>
          <a:p>
            <a:pPr>
              <a:spcAft>
                <a:spcPts val="1000"/>
              </a:spcAft>
            </a:pPr>
            <a:r>
              <a:rPr sz="2400">
                <a:solidFill>
                  <a:srgbClr val="222222"/>
                </a:solidFill>
              </a:rPr>
              <a:t>•  A course folder called my-website to keep all our files</a:t>
            </a:r>
          </a:p>
          <a:p>
            <a:pPr>
              <a:spcAft>
                <a:spcPts val="1000"/>
              </a:spcAft>
            </a:pPr>
            <a:r>
              <a:rPr sz="2400">
                <a:solidFill>
                  <a:srgbClr val="222222"/>
                </a:solidFill>
              </a:rPr>
              <a:t>•  Chrome DevTools (right-click → Inspect) to look at and check our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Setup Checklist</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100">
                <a:solidFill>
                  <a:srgbClr val="222222"/>
                </a:solidFill>
              </a:rPr>
              <a:t>•  Install Google Chrome: google.com/chrome</a:t>
            </a:r>
          </a:p>
          <a:p>
            <a:pPr>
              <a:spcAft>
                <a:spcPts val="1000"/>
              </a:spcAft>
            </a:pPr>
            <a:r>
              <a:rPr sz="2100">
                <a:solidFill>
                  <a:srgbClr val="222222"/>
                </a:solidFill>
              </a:rPr>
              <a:t>•  Install VS Code: code.visualstudio.com</a:t>
            </a:r>
          </a:p>
          <a:p>
            <a:pPr>
              <a:spcAft>
                <a:spcPts val="1000"/>
              </a:spcAft>
            </a:pPr>
            <a:r>
              <a:rPr sz="2100">
                <a:solidFill>
                  <a:srgbClr val="222222"/>
                </a:solidFill>
              </a:rPr>
              <a:t>•  In VS Code, open Extensions (the four-squares icon), search ‘Live Server’ and click Install</a:t>
            </a:r>
          </a:p>
          <a:p>
            <a:pPr>
              <a:spcAft>
                <a:spcPts val="1000"/>
              </a:spcAft>
            </a:pPr>
            <a:r>
              <a:rPr sz="2100">
                <a:solidFill>
                  <a:srgbClr val="222222"/>
                </a:solidFill>
              </a:rPr>
              <a:t>•  Windows only: in File Explorer, turn on View → Show → File name extensions</a:t>
            </a:r>
          </a:p>
          <a:p>
            <a:pPr>
              <a:spcAft>
                <a:spcPts val="1000"/>
              </a:spcAft>
            </a:pPr>
            <a:r>
              <a:rPr sz="2100">
                <a:solidFill>
                  <a:srgbClr val="222222"/>
                </a:solidFill>
              </a:rPr>
              <a:t>•  Create a folder called my-website on your Desktop</a:t>
            </a:r>
          </a:p>
          <a:p>
            <a:pPr>
              <a:spcAft>
                <a:spcPts val="1000"/>
              </a:spcAft>
            </a:pPr>
            <a:r>
              <a:rPr sz="2100">
                <a:solidFill>
                  <a:srgbClr val="222222"/>
                </a:solidFill>
              </a:rPr>
              <a:t>•  In VS Code: File → Open Folder → choose my-website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What We Will Learn</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100">
                <a:solidFill>
                  <a:srgbClr val="222222"/>
                </a:solidFill>
              </a:rPr>
              <a:t>•  Week 1 — HTML: page structure, text, lists, links, images, tables, semantic tags</a:t>
            </a:r>
          </a:p>
          <a:p>
            <a:pPr>
              <a:spcAft>
                <a:spcPts val="1000"/>
              </a:spcAft>
            </a:pPr>
            <a:r>
              <a:rPr sz="2100">
                <a:solidFill>
                  <a:srgbClr val="222222"/>
                </a:solidFill>
              </a:rPr>
              <a:t>•  Week 2 — HTML forms, then CSS: colors, fonts, selectors, the box model</a:t>
            </a:r>
          </a:p>
          <a:p>
            <a:pPr>
              <a:spcAft>
                <a:spcPts val="1000"/>
              </a:spcAft>
            </a:pPr>
            <a:r>
              <a:rPr sz="2100">
                <a:solidFill>
                  <a:srgbClr val="222222"/>
                </a:solidFill>
              </a:rPr>
              <a:t>•  Week 3 — CSS: text and backgrounds, flexbox, and a profile card mini project</a:t>
            </a:r>
          </a:p>
          <a:p>
            <a:pPr>
              <a:spcAft>
                <a:spcPts val="1000"/>
              </a:spcAft>
            </a:pPr>
            <a:r>
              <a:rPr sz="2100">
                <a:solidFill>
                  <a:srgbClr val="222222"/>
                </a:solidFill>
              </a:rPr>
              <a:t>•  Week 4 — JavaScript: variables, if/else, functions, and making buttons work</a:t>
            </a:r>
          </a:p>
          <a:p>
            <a:pPr>
              <a:spcAft>
                <a:spcPts val="1000"/>
              </a:spcAft>
            </a:pPr>
            <a:r>
              <a:rPr sz="2100">
                <a:solidFill>
                  <a:srgbClr val="222222"/>
                </a:solidFill>
              </a:rPr>
              <a:t>•  Homework is given on Saturday and checked on Wednesday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By the End of the Month You Will Be Able To</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100">
                <a:solidFill>
                  <a:srgbClr val="222222"/>
                </a:solidFill>
              </a:rPr>
              <a:t>•  Build a complete web page from an empty file</a:t>
            </a:r>
          </a:p>
          <a:p>
            <a:pPr>
              <a:spcAft>
                <a:spcPts val="1000"/>
              </a:spcAft>
            </a:pPr>
            <a:r>
              <a:rPr sz="2100">
                <a:solidFill>
                  <a:srgbClr val="222222"/>
                </a:solidFill>
              </a:rPr>
              <a:t>•  Use headings, paragraphs, lists, links, images, tables, and forms</a:t>
            </a:r>
          </a:p>
          <a:p>
            <a:pPr>
              <a:spcAft>
                <a:spcPts val="1000"/>
              </a:spcAft>
            </a:pPr>
            <a:r>
              <a:rPr sz="2100">
                <a:solidFill>
                  <a:srgbClr val="222222"/>
                </a:solidFill>
              </a:rPr>
              <a:t>•  Style a page with colors, fonts, spacing, and borders</a:t>
            </a:r>
          </a:p>
          <a:p>
            <a:pPr>
              <a:spcAft>
                <a:spcPts val="1000"/>
              </a:spcAft>
            </a:pPr>
            <a:r>
              <a:rPr sz="2100">
                <a:solidFill>
                  <a:srgbClr val="222222"/>
                </a:solidFill>
              </a:rPr>
              <a:t>•  Arrange boxes side by side using flexbox</a:t>
            </a:r>
          </a:p>
          <a:p>
            <a:pPr>
              <a:spcAft>
                <a:spcPts val="1000"/>
              </a:spcAft>
            </a:pPr>
            <a:r>
              <a:rPr sz="2100">
                <a:solidFill>
                  <a:srgbClr val="222222"/>
                </a:solidFill>
              </a:rPr>
              <a:t>•  Write simple JavaScript: variables, if/else, and functions</a:t>
            </a:r>
          </a:p>
          <a:p>
            <a:pPr>
              <a:spcAft>
                <a:spcPts val="1000"/>
              </a:spcAft>
            </a:pPr>
            <a:r>
              <a:rPr sz="2100">
                <a:solidFill>
                  <a:srgbClr val="222222"/>
                </a:solidFill>
              </a:rPr>
              <a:t>•  Make a button change text and colors on the page</a:t>
            </a:r>
          </a:p>
          <a:p>
            <a:pPr>
              <a:spcAft>
                <a:spcPts val="1000"/>
              </a:spcAft>
            </a:pPr>
            <a:r>
              <a:rPr sz="2100">
                <a:solidFill>
                  <a:srgbClr val="222222"/>
                </a:solidFill>
              </a:rPr>
              <a:t>•  Present your own interactive ‘About Me’ profile card 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1 of 4</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Our project folder. For now we only need index.html — style.css and script.js come later in the month.</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my-website/</a:t>
            </a:r>
          </a:p>
          <a:p>
            <a:r>
              <a:rPr sz="1600">
                <a:solidFill>
                  <a:srgbClr val="E6E6E6"/>
                </a:solidFill>
                <a:latin typeface="Menlo"/>
              </a:rPr>
              <a:t>  index.html    &lt;- HTML (Week 1)</a:t>
            </a:r>
          </a:p>
          <a:p>
            <a:r>
              <a:rPr sz="1600">
                <a:solidFill>
                  <a:srgbClr val="E6E6E6"/>
                </a:solidFill>
                <a:latin typeface="Menlo"/>
              </a:rPr>
              <a:t>  style.css     &lt;- CSS (Week 2)</a:t>
            </a:r>
          </a:p>
          <a:p>
            <a:r>
              <a:rPr sz="1600">
                <a:solidFill>
                  <a:srgbClr val="E6E6E6"/>
                </a:solidFill>
                <a:latin typeface="Menlo"/>
              </a:rPr>
              <a:t>  script.js     &lt;- JavaScript (Week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2 of 4</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VS Code shortcut: in an empty .html file, type ! and press Enter — it writes the basic page for you.</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   then press Enter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3 of 4</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To see your page: right-click index.html in VS Code and choose ‘Open with Live Server’. Every time you save, the browser updates.</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Save:  Ctrl + S   (Mac: Cmd + S)</a:t>
            </a:r>
          </a:p>
          <a:p>
            <a:r>
              <a:rPr sz="1600">
                <a:solidFill>
                  <a:srgbClr val="E6E6E6"/>
                </a:solidFill>
                <a:latin typeface="Menlo"/>
              </a:rPr>
              <a:t>Undo:  Ctrl + Z   (Mac: Cmd + 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Code Sample 4 of 4</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Open DevTools in Chrome (right-click → Inspect → Console) and type this to check JavaScript works.</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console.log("My setup works!");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Example</a:t>
            </a:r>
          </a:p>
        </p:txBody>
      </p:sp>
      <p:sp>
        <p:nvSpPr>
          <p:cNvPr id="3" name="TextBox 2"/>
          <p:cNvSpPr txBox="1"/>
          <p:nvPr/>
        </p:nvSpPr>
        <p:spPr>
          <a:xfrm>
            <a:off x="640080" y="1371600"/>
            <a:ext cx="10908792" cy="548640"/>
          </a:xfrm>
          <a:prstGeom prst="rect">
            <a:avLst/>
          </a:prstGeom>
          <a:noFill/>
        </p:spPr>
        <p:txBody>
          <a:bodyPr wrap="square">
            <a:spAutoFit/>
          </a:bodyPr>
          <a:lstStyle/>
          <a:p>
            <a:r>
              <a:rPr sz="1700" i="1">
                <a:solidFill>
                  <a:srgbClr val="1D4ED8"/>
                </a:solidFill>
              </a:rPr>
              <a:t>A tiny ‘setup check’ page. If you can see this heading in Chrome, you are ready for Lesson 1:</a:t>
            </a:r>
          </a:p>
        </p:txBody>
      </p:sp>
      <p:sp>
        <p:nvSpPr>
          <p:cNvPr id="4" name="Rectangle 3"/>
          <p:cNvSpPr/>
          <p:nvPr/>
        </p:nvSpPr>
        <p:spPr>
          <a:xfrm>
            <a:off x="640080" y="1965960"/>
            <a:ext cx="10908792" cy="4434840"/>
          </a:xfrm>
          <a:prstGeom prst="rect">
            <a:avLst/>
          </a:prstGeom>
          <a:solidFill>
            <a:srgbClr val="1E253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r>
              <a:rPr sz="1600">
                <a:solidFill>
                  <a:srgbClr val="E6E6E6"/>
                </a:solidFill>
                <a:latin typeface="Menlo"/>
              </a:rPr>
              <a:t>&lt;!DOCTYPE html&gt;</a:t>
            </a:r>
          </a:p>
          <a:p>
            <a:r>
              <a:rPr sz="1600">
                <a:solidFill>
                  <a:srgbClr val="E6E6E6"/>
                </a:solidFill>
                <a:latin typeface="Menlo"/>
              </a:rPr>
              <a:t>&lt;html&gt;</a:t>
            </a:r>
          </a:p>
          <a:p>
            <a:r>
              <a:rPr sz="1600">
                <a:solidFill>
                  <a:srgbClr val="E6E6E6"/>
                </a:solidFill>
                <a:latin typeface="Menlo"/>
              </a:rPr>
              <a:t>&lt;head&gt;</a:t>
            </a:r>
          </a:p>
          <a:p>
            <a:r>
              <a:rPr sz="1600">
                <a:solidFill>
                  <a:srgbClr val="E6E6E6"/>
                </a:solidFill>
                <a:latin typeface="Menlo"/>
              </a:rPr>
              <a:t>  &lt;title&gt;Setup Check&lt;/title&gt;</a:t>
            </a:r>
          </a:p>
          <a:p>
            <a:r>
              <a:rPr sz="1600">
                <a:solidFill>
                  <a:srgbClr val="E6E6E6"/>
                </a:solidFill>
                <a:latin typeface="Menlo"/>
              </a:rPr>
              <a:t>&lt;/head&gt;</a:t>
            </a:r>
          </a:p>
          <a:p>
            <a:r>
              <a:rPr sz="1600">
                <a:solidFill>
                  <a:srgbClr val="E6E6E6"/>
                </a:solidFill>
                <a:latin typeface="Menlo"/>
              </a:rPr>
              <a:t>&lt;body&gt;</a:t>
            </a:r>
          </a:p>
          <a:p>
            <a:r>
              <a:rPr sz="1600">
                <a:solidFill>
                  <a:srgbClr val="E6E6E6"/>
                </a:solidFill>
                <a:latin typeface="Menlo"/>
              </a:rPr>
              <a:t>  &lt;h1&gt;My setup works!&lt;/h1&gt;</a:t>
            </a:r>
          </a:p>
          <a:p>
            <a:r>
              <a:rPr sz="1600">
                <a:solidFill>
                  <a:srgbClr val="E6E6E6"/>
                </a:solidFill>
                <a:latin typeface="Menlo"/>
              </a:rPr>
              <a:t>&lt;/body&gt;</a:t>
            </a:r>
          </a:p>
          <a:p>
            <a:r>
              <a:rPr sz="1600">
                <a:solidFill>
                  <a:srgbClr val="E6E6E6"/>
                </a:solidFill>
                <a:latin typeface="Menlo"/>
              </a:rPr>
              <a:t>&lt;/html&gt;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1672" cy="1188720"/>
          </a:xfrm>
          <a:prstGeom prst="rect">
            <a:avLst/>
          </a:prstGeom>
          <a:noFill/>
        </p:spPr>
        <p:txBody>
          <a:bodyPr wrap="square">
            <a:spAutoFit/>
          </a:bodyPr>
          <a:lstStyle/>
          <a:p>
            <a:r>
              <a:rPr sz="3400" b="1">
                <a:solidFill>
                  <a:srgbClr val="2C5F2D"/>
                </a:solidFill>
              </a:rPr>
              <a:t>Exercises</a:t>
            </a:r>
          </a:p>
        </p:txBody>
      </p:sp>
      <p:sp>
        <p:nvSpPr>
          <p:cNvPr id="3" name="TextBox 2"/>
          <p:cNvSpPr txBox="1"/>
          <p:nvPr/>
        </p:nvSpPr>
        <p:spPr>
          <a:xfrm>
            <a:off x="731520" y="1463040"/>
            <a:ext cx="10725912" cy="4937760"/>
          </a:xfrm>
          <a:prstGeom prst="rect">
            <a:avLst/>
          </a:prstGeom>
          <a:noFill/>
        </p:spPr>
        <p:txBody>
          <a:bodyPr wrap="square">
            <a:spAutoFit/>
          </a:bodyPr>
          <a:lstStyle/>
          <a:p>
            <a:pPr>
              <a:spcAft>
                <a:spcPts val="1000"/>
              </a:spcAft>
            </a:pPr>
            <a:r>
              <a:rPr sz="2200">
                <a:solidFill>
                  <a:srgbClr val="222222"/>
                </a:solidFill>
              </a:rPr>
              <a:t>•  Install Chrome, VS Code, and the Live Server extension.</a:t>
            </a:r>
          </a:p>
          <a:p>
            <a:pPr>
              <a:spcAft>
                <a:spcPts val="1000"/>
              </a:spcAft>
            </a:pPr>
            <a:r>
              <a:rPr sz="2200">
                <a:solidFill>
                  <a:srgbClr val="222222"/>
                </a:solidFill>
              </a:rPr>
              <a:t>•  Create the my-website folder and open it in VS Code.</a:t>
            </a:r>
          </a:p>
          <a:p>
            <a:pPr>
              <a:spcAft>
                <a:spcPts val="1000"/>
              </a:spcAft>
            </a:pPr>
            <a:r>
              <a:rPr sz="2200">
                <a:solidFill>
                  <a:srgbClr val="222222"/>
                </a:solidFill>
              </a:rPr>
              <a:t>•  Create index.html, type the setup check page, and save it.</a:t>
            </a:r>
          </a:p>
          <a:p>
            <a:pPr>
              <a:spcAft>
                <a:spcPts val="1000"/>
              </a:spcAft>
            </a:pPr>
            <a:r>
              <a:rPr sz="2200">
                <a:solidFill>
                  <a:srgbClr val="222222"/>
                </a:solidFill>
              </a:rPr>
              <a:t>•  Open it with Live Server — change the heading text, save, and watch the browser update.</a:t>
            </a:r>
          </a:p>
          <a:p>
            <a:pPr>
              <a:spcAft>
                <a:spcPts val="1000"/>
              </a:spcAft>
            </a:pPr>
            <a:r>
              <a:rPr sz="2200">
                <a:solidFill>
                  <a:srgbClr val="222222"/>
                </a:solidFill>
              </a:rPr>
              <a:t>•  Open the Chrome Console and run console.log("My setup works!").</a:t>
            </a:r>
          </a:p>
          <a:p>
            <a:pPr>
              <a:spcAft>
                <a:spcPts val="1000"/>
              </a:spcAft>
            </a:pPr>
            <a:r>
              <a:rPr sz="2200">
                <a:solidFill>
                  <a:srgbClr val="222222"/>
                </a:solidFill>
              </a:rPr>
              <a:t>•  Find these keys on your keyboard: &lt; &gt; / { } ; " — we will use them a 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