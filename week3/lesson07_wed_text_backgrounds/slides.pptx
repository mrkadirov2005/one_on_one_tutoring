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377440"/>
            <a:ext cx="1072591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2C5F2D"/>
                </a:solidFill>
              </a:rPr>
              <a:t>Styling Text &amp; Backgrounds</a:t>
            </a:r>
          </a:p>
          <a:p>
            <a:pPr algn="ctr"/>
            <a:r>
              <a:rPr sz="2000">
                <a:solidFill>
                  <a:srgbClr val="666666"/>
                </a:solidFill>
              </a:rPr>
              <a:t>Week 3 · Wednesday · Lesson 7 of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C5F2D"/>
                </a:solidFill>
              </a:rPr>
              <a:t>Description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725912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>
                <a:solidFill>
                  <a:srgbClr val="222222"/>
                </a:solidFill>
              </a:rPr>
              <a:t>Let's make our pages look more finished: better fonts, text alignment, and background colors.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C5F2D"/>
                </a:solidFill>
              </a:rPr>
              <a:t>Key Concepts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2591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400">
                <a:solidFill>
                  <a:srgbClr val="222222"/>
                </a:solidFill>
              </a:rPr>
              <a:t>•  font-family sets the typeface (with backup fonts)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222222"/>
                </a:solidFill>
              </a:rPr>
              <a:t>•  font-size and font-weight control text size and boldness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222222"/>
                </a:solidFill>
              </a:rPr>
              <a:t>•  text-align: left, center, or right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222222"/>
                </a:solidFill>
              </a:rPr>
              <a:t>•  background-color colors the whole box behind the content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222222"/>
                </a:solidFill>
              </a:rPr>
              <a:t>•  background-image can add a picture behind content (used carefully)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C5F2D"/>
                </a:solidFill>
              </a:rPr>
              <a:t>Code Sample 1 of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087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i="1">
                <a:solidFill>
                  <a:srgbClr val="1D4ED8"/>
                </a:solidFill>
              </a:rPr>
              <a:t>font-family can list several fonts — the browser uses the first one it has.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08792" cy="4434840"/>
          </a:xfrm>
          <a:prstGeom prst="rect">
            <a:avLst/>
          </a:prstGeom>
          <a:solidFill>
            <a:srgbClr val="1E25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/>
            <a:r>
              <a:rPr sz="1600">
                <a:solidFill>
                  <a:srgbClr val="E6E6E6"/>
                </a:solidFill>
                <a:latin typeface="Menlo"/>
              </a:rPr>
              <a:t>body {</a:t>
            </a:r>
          </a:p>
          <a:p>
            <a:r>
              <a:rPr sz="1600">
                <a:solidFill>
                  <a:srgbClr val="E6E6E6"/>
                </a:solidFill>
                <a:latin typeface="Menlo"/>
              </a:rPr>
              <a:t>  font-family: Arial, sans-serif;</a:t>
            </a:r>
          </a:p>
          <a:p>
            <a:r>
              <a:rPr sz="1600">
                <a:solidFill>
                  <a:srgbClr val="E6E6E6"/>
                </a:solidFill>
                <a:latin typeface="Menlo"/>
              </a:rPr>
              <a:t>  font-size: 18px;</a:t>
            </a:r>
          </a:p>
          <a:p>
            <a:r>
              <a:rPr sz="1600">
                <a:solidFill>
                  <a:srgbClr val="E6E6E6"/>
                </a:solidFill>
                <a:latin typeface="Menlo"/>
              </a:rPr>
              <a:t>}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C5F2D"/>
                </a:solidFill>
              </a:rPr>
              <a:t>Code Sample 2 of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087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i="1">
                <a:solidFill>
                  <a:srgbClr val="1D4ED8"/>
                </a:solidFill>
              </a:rPr>
              <a:t>font-weight controls boldness; text-align controls horizontal position.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08792" cy="4434840"/>
          </a:xfrm>
          <a:prstGeom prst="rect">
            <a:avLst/>
          </a:prstGeom>
          <a:solidFill>
            <a:srgbClr val="1E25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/>
            <a:r>
              <a:rPr sz="1600">
                <a:solidFill>
                  <a:srgbClr val="E6E6E6"/>
                </a:solidFill>
                <a:latin typeface="Menlo"/>
              </a:rPr>
              <a:t>h1 {</a:t>
            </a:r>
          </a:p>
          <a:p>
            <a:r>
              <a:rPr sz="1600">
                <a:solidFill>
                  <a:srgbClr val="E6E6E6"/>
                </a:solidFill>
                <a:latin typeface="Menlo"/>
              </a:rPr>
              <a:t>  font-weight: bold;</a:t>
            </a:r>
          </a:p>
          <a:p>
            <a:r>
              <a:rPr sz="1600">
                <a:solidFill>
                  <a:srgbClr val="E6E6E6"/>
                </a:solidFill>
                <a:latin typeface="Menlo"/>
              </a:rPr>
              <a:t>  text-align: center;</a:t>
            </a:r>
          </a:p>
          <a:p>
            <a:r>
              <a:rPr sz="1600">
                <a:solidFill>
                  <a:srgbClr val="E6E6E6"/>
                </a:solidFill>
                <a:latin typeface="Menlo"/>
              </a:rPr>
              <a:t>}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C5F2D"/>
                </a:solidFill>
              </a:rPr>
              <a:t>Code Sample 3 of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087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i="1">
                <a:solidFill>
                  <a:srgbClr val="1D4ED8"/>
                </a:solidFill>
              </a:rPr>
              <a:t>background-color fills the box behind the text with a color.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08792" cy="4434840"/>
          </a:xfrm>
          <a:prstGeom prst="rect">
            <a:avLst/>
          </a:prstGeom>
          <a:solidFill>
            <a:srgbClr val="1E25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/>
            <a:r>
              <a:rPr sz="1600">
                <a:solidFill>
                  <a:srgbClr val="E6E6E6"/>
                </a:solidFill>
                <a:latin typeface="Menlo"/>
              </a:rPr>
              <a:t>body {</a:t>
            </a:r>
          </a:p>
          <a:p>
            <a:r>
              <a:rPr sz="1600">
                <a:solidFill>
                  <a:srgbClr val="E6E6E6"/>
                </a:solidFill>
                <a:latin typeface="Menlo"/>
              </a:rPr>
              <a:t>  background-color: #f0f8ff;</a:t>
            </a:r>
          </a:p>
          <a:p>
            <a:r>
              <a:rPr sz="1600">
                <a:solidFill>
                  <a:srgbClr val="E6E6E6"/>
                </a:solidFill>
                <a:latin typeface="Menlo"/>
              </a:rPr>
              <a:t>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C5F2D"/>
                </a:solidFill>
              </a:rPr>
              <a:t>Code Sample 4 of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087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i="1">
                <a:solidFill>
                  <a:srgbClr val="1D4ED8"/>
                </a:solidFill>
              </a:rPr>
              <a:t>background-image puts a picture behind the content of a box.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08792" cy="4434840"/>
          </a:xfrm>
          <a:prstGeom prst="rect">
            <a:avLst/>
          </a:prstGeom>
          <a:solidFill>
            <a:srgbClr val="1E25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/>
            <a:r>
              <a:rPr sz="1600">
                <a:solidFill>
                  <a:srgbClr val="E6E6E6"/>
                </a:solidFill>
                <a:latin typeface="Menlo"/>
              </a:rPr>
              <a:t>div {</a:t>
            </a:r>
          </a:p>
          <a:p>
            <a:r>
              <a:rPr sz="1600">
                <a:solidFill>
                  <a:srgbClr val="E6E6E6"/>
                </a:solidFill>
                <a:latin typeface="Menlo"/>
              </a:rPr>
              <a:t>  background-image: url("bg.jpg");</a:t>
            </a:r>
          </a:p>
          <a:p>
            <a:r>
              <a:rPr sz="1600">
                <a:solidFill>
                  <a:srgbClr val="E6E6E6"/>
                </a:solidFill>
                <a:latin typeface="Menlo"/>
              </a:rPr>
              <a:t>}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C5F2D"/>
                </a:solidFill>
              </a:rPr>
              <a:t>Example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087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i="1">
                <a:solidFill>
                  <a:srgbClr val="1D4ED8"/>
                </a:solidFill>
              </a:rPr>
              <a:t>A page with a centered heading and a light background: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08792" cy="4434840"/>
          </a:xfrm>
          <a:prstGeom prst="rect">
            <a:avLst/>
          </a:prstGeom>
          <a:solidFill>
            <a:srgbClr val="1E25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/>
            <a:r>
              <a:rPr sz="1600">
                <a:solidFill>
                  <a:srgbClr val="E6E6E6"/>
                </a:solidFill>
                <a:latin typeface="Menlo"/>
              </a:rPr>
              <a:t>&lt;style&gt;</a:t>
            </a:r>
          </a:p>
          <a:p>
            <a:r>
              <a:rPr sz="1600">
                <a:solidFill>
                  <a:srgbClr val="E6E6E6"/>
                </a:solidFill>
                <a:latin typeface="Menlo"/>
              </a:rPr>
              <a:t>  body {</a:t>
            </a:r>
          </a:p>
          <a:p>
            <a:r>
              <a:rPr sz="1600">
                <a:solidFill>
                  <a:srgbClr val="E6E6E6"/>
                </a:solidFill>
                <a:latin typeface="Menlo"/>
              </a:rPr>
              <a:t>    font-family: Arial, sans-serif;</a:t>
            </a:r>
          </a:p>
          <a:p>
            <a:r>
              <a:rPr sz="1600">
                <a:solidFill>
                  <a:srgbClr val="E6E6E6"/>
                </a:solidFill>
                <a:latin typeface="Menlo"/>
              </a:rPr>
              <a:t>    background-color: #f0f8ff;</a:t>
            </a:r>
          </a:p>
          <a:p>
            <a:r>
              <a:rPr sz="1600">
                <a:solidFill>
                  <a:srgbClr val="E6E6E6"/>
                </a:solidFill>
                <a:latin typeface="Menlo"/>
              </a:rPr>
              <a:t>  }</a:t>
            </a:r>
          </a:p>
          <a:p>
            <a:r>
              <a:rPr sz="1600">
                <a:solidFill>
                  <a:srgbClr val="E6E6E6"/>
                </a:solidFill>
                <a:latin typeface="Menlo"/>
              </a:rPr>
              <a:t>  h1 {</a:t>
            </a:r>
          </a:p>
          <a:p>
            <a:r>
              <a:rPr sz="1600">
                <a:solidFill>
                  <a:srgbClr val="E6E6E6"/>
                </a:solidFill>
                <a:latin typeface="Menlo"/>
              </a:rPr>
              <a:t>    text-align: center;</a:t>
            </a:r>
          </a:p>
          <a:p>
            <a:r>
              <a:rPr sz="1600">
                <a:solidFill>
                  <a:srgbClr val="E6E6E6"/>
                </a:solidFill>
                <a:latin typeface="Menlo"/>
              </a:rPr>
              <a:t>    font-weight: bold;</a:t>
            </a:r>
          </a:p>
          <a:p>
            <a:r>
              <a:rPr sz="1600">
                <a:solidFill>
                  <a:srgbClr val="E6E6E6"/>
                </a:solidFill>
                <a:latin typeface="Menlo"/>
              </a:rPr>
              <a:t>  }</a:t>
            </a:r>
          </a:p>
          <a:p>
            <a:r>
              <a:rPr sz="1600">
                <a:solidFill>
                  <a:srgbClr val="E6E6E6"/>
                </a:solidFill>
                <a:latin typeface="Menlo"/>
              </a:rPr>
              <a:t>&lt;/style&gt;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C5F2D"/>
                </a:solidFill>
              </a:rPr>
              <a:t>Exercises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2591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222222"/>
                </a:solidFill>
              </a:rPr>
              <a:t>•  Change your whole page's font-family and font-size on the body.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222222"/>
                </a:solidFill>
              </a:rPr>
              <a:t>•  Center your &lt;h1&gt; using text-align.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222222"/>
                </a:solidFill>
              </a:rPr>
              <a:t>•  Give your page's &lt;body&gt; a light background-color.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222222"/>
                </a:solidFill>
              </a:rPr>
              <a:t>•  Review: your card &lt;div&gt; (Lesson 6) should still have padding/border/margin.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222222"/>
                </a:solidFill>
              </a:rPr>
              <a:t>•  Review: your form and table (Lessons 3–4) should still be visible on the page.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